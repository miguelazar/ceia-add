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THEFT</c:v>
                </c:pt>
                <c:pt idx="1">
                  <c:v>BATTERY</c:v>
                </c:pt>
                <c:pt idx="2">
                  <c:v>CRIMINAL DAMAGE</c:v>
                </c:pt>
                <c:pt idx="3">
                  <c:v>NARCOTICS</c:v>
                </c:pt>
                <c:pt idx="4">
                  <c:v>OTHER OFFENSE</c:v>
                </c:pt>
                <c:pt idx="5">
                  <c:v>ASSAULT</c:v>
                </c:pt>
                <c:pt idx="6">
                  <c:v>DECEPTIVE PRACTICE</c:v>
                </c:pt>
                <c:pt idx="7">
                  <c:v>BURGLARY</c:v>
                </c:pt>
                <c:pt idx="8">
                  <c:v>MOTOR VEHICLE THEFT</c:v>
                </c:pt>
                <c:pt idx="9">
                  <c:v>ROBBERY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57354</c:v>
                </c:pt>
                <c:pt idx="1">
                  <c:v>48963</c:v>
                </c:pt>
                <c:pt idx="2">
                  <c:v>28870</c:v>
                </c:pt>
                <c:pt idx="3">
                  <c:v>23980</c:v>
                </c:pt>
                <c:pt idx="4">
                  <c:v>17640</c:v>
                </c:pt>
                <c:pt idx="5">
                  <c:v>17140</c:v>
                </c:pt>
                <c:pt idx="6">
                  <c:v>16490</c:v>
                </c:pt>
                <c:pt idx="7">
                  <c:v>13210</c:v>
                </c:pt>
                <c:pt idx="8">
                  <c:v>10000</c:v>
                </c:pt>
                <c:pt idx="9">
                  <c:v>9640</c:v>
                </c:pt>
              </c:numCache>
            </c:numRef>
          </c:val>
        </c:ser>
        <c:gapWidth val="150"/>
        <c:overlap val="0"/>
        <c:axId val="27686155"/>
        <c:axId val="70142067"/>
      </c:barChart>
      <c:catAx>
        <c:axId val="2768615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pc="-1" strike="noStrike">
                <a:solidFill>
                  <a:srgbClr val="5b6b82"/>
                </a:solidFill>
                <a:latin typeface="Arial"/>
              </a:defRPr>
            </a:pPr>
          </a:p>
        </c:txPr>
        <c:crossAx val="70142067"/>
        <c:crosses val="autoZero"/>
        <c:auto val="1"/>
        <c:lblAlgn val="ctr"/>
        <c:lblOffset val="100"/>
        <c:noMultiLvlLbl val="0"/>
      </c:catAx>
      <c:valAx>
        <c:axId val="70142067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pc="-1" strike="noStrike">
                <a:solidFill>
                  <a:srgbClr val="5b6b82"/>
                </a:solidFill>
                <a:latin typeface="Arial"/>
              </a:defRPr>
            </a:pPr>
          </a:p>
        </c:txPr>
        <c:crossAx val="2768615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1b2a4a"/>
            </a:solidFill>
            <a:ln w="31680">
              <a:solidFill>
                <a:srgbClr val="1b2a4a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4"/>
                <c:pt idx="0">
                  <c:v>13100</c:v>
                </c:pt>
                <c:pt idx="1">
                  <c:v>7800</c:v>
                </c:pt>
                <c:pt idx="2">
                  <c:v>6700</c:v>
                </c:pt>
                <c:pt idx="3">
                  <c:v>5800</c:v>
                </c:pt>
                <c:pt idx="4">
                  <c:v>4200</c:v>
                </c:pt>
                <c:pt idx="5">
                  <c:v>3800</c:v>
                </c:pt>
                <c:pt idx="6">
                  <c:v>3800</c:v>
                </c:pt>
                <c:pt idx="7">
                  <c:v>4400</c:v>
                </c:pt>
                <c:pt idx="8">
                  <c:v>6100</c:v>
                </c:pt>
                <c:pt idx="9">
                  <c:v>9000</c:v>
                </c:pt>
                <c:pt idx="10">
                  <c:v>11500</c:v>
                </c:pt>
                <c:pt idx="11">
                  <c:v>12100</c:v>
                </c:pt>
                <c:pt idx="12">
                  <c:v>14000</c:v>
                </c:pt>
                <c:pt idx="13">
                  <c:v>12400</c:v>
                </c:pt>
                <c:pt idx="14">
                  <c:v>13000</c:v>
                </c:pt>
                <c:pt idx="15">
                  <c:v>14400</c:v>
                </c:pt>
                <c:pt idx="16">
                  <c:v>13800</c:v>
                </c:pt>
                <c:pt idx="17">
                  <c:v>14000</c:v>
                </c:pt>
                <c:pt idx="18">
                  <c:v>15400</c:v>
                </c:pt>
                <c:pt idx="19">
                  <c:v>15300</c:v>
                </c:pt>
                <c:pt idx="20">
                  <c:v>14600</c:v>
                </c:pt>
                <c:pt idx="21">
                  <c:v>14200</c:v>
                </c:pt>
                <c:pt idx="22">
                  <c:v>13700</c:v>
                </c:pt>
                <c:pt idx="23">
                  <c:v>11100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0"/>
        <c:axId val="13035540"/>
        <c:axId val="92293056"/>
      </c:lineChart>
      <c:catAx>
        <c:axId val="130355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700" spc="-1" strike="noStrike">
                <a:solidFill>
                  <a:srgbClr val="5b6b82"/>
                </a:solidFill>
                <a:latin typeface="Arial"/>
              </a:defRPr>
            </a:pPr>
          </a:p>
        </c:txPr>
        <c:crossAx val="92293056"/>
        <c:crosses val="autoZero"/>
        <c:auto val="1"/>
        <c:lblAlgn val="ctr"/>
        <c:lblOffset val="100"/>
        <c:noMultiLvlLbl val="0"/>
      </c:catAx>
      <c:valAx>
        <c:axId val="92293056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800" spc="-1" strike="noStrike">
                <a:solidFill>
                  <a:srgbClr val="5b6b82"/>
                </a:solidFill>
                <a:latin typeface="Arial"/>
              </a:defRPr>
            </a:pPr>
          </a:p>
        </c:txPr>
        <c:crossAx val="1303554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Arrestos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c0392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fbf6b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2"/>
                <c:pt idx="0">
                  <c:v>Sin arresto</c:v>
                </c:pt>
                <c:pt idx="1">
                  <c:v>Con arresto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194704</c:v>
                </c:pt>
                <c:pt idx="1">
                  <c:v>70199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5b6b82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AR" sz="1800" spc="-1" strike="noStrike">
                <a:solidFill>
                  <a:schemeClr val="dk1"/>
                </a:solidFill>
                <a:latin typeface="Calibri"/>
              </a:rPr>
              <a:t>Pulse para desplazar la </a:t>
            </a:r>
            <a:r>
              <a:rPr b="0" lang="es-AR" sz="1800" spc="-1" strike="noStrike">
                <a:solidFill>
                  <a:schemeClr val="dk1"/>
                </a:solidFill>
                <a:latin typeface="Calibri"/>
              </a:rPr>
              <a:t>diapositiva</a:t>
            </a:r>
            <a:endParaRPr b="0" lang="es-A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</a:t>
            </a: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formato de las notas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0D65D4-9D3D-4135-AB2F-EC174450E4CB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AA50AC-0EC9-4205-AD8C-28A7622174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Tasa de arresto: 26.5%. Tipo de crimen más frecuente: THEFT con 57,354 casos (~21.7% del total). Picos de crímenes en horario vespertino/nocturno y menor incidencia de madrugada. Fuerte concentración geográfica en ciertas áreas comunitarias.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14079C-17D8-47DC-9758-4DA5F3ED57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chemeClr val="dk1"/>
                </a:solidFill>
                <a:latin typeface="Calibri"/>
              </a:rPr>
              <a:t>Pulse para editar el formato del texto de </a:t>
            </a:r>
            <a:r>
              <a:rPr b="0" lang="es-AR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es-A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A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A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A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A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A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A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A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image" Target="../media/image6.png"/><Relationship Id="rId4" Type="http://schemas.openxmlformats.org/officeDocument/2006/relationships/chart" Target="../charts/chart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320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0392b"/>
                </a:solidFill>
                <a:latin typeface="Calibri"/>
                <a:ea typeface="Calibri"/>
              </a:rPr>
              <a:t>Chicago Data Portal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59436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Cambria"/>
                <a:ea typeface="Cambria"/>
              </a:rPr>
              <a:t>Dataset Crimes 2015 — Chicago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1298520"/>
            <a:ext cx="11246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82"/>
                </a:solidFill>
                <a:latin typeface="Calibri"/>
                <a:ea typeface="Calibri"/>
              </a:rPr>
              <a:t>El dataset publicado por el portal de datos abiertos de la Ciudad de Chicago recopila los delitos reportados a la policía durante el año 2015. Permite analizar patrones espaciales, temporales y de tipología delictiva para comprender mejor la dinámica de seguridad pública de la ciudad.</a:t>
            </a:r>
            <a:endParaRPr b="0" lang="es-A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" y="2084760"/>
            <a:ext cx="11247120" cy="360"/>
          </a:xfrm>
          <a:prstGeom prst="line">
            <a:avLst/>
          </a:prstGeom>
          <a:ln w="12700">
            <a:solidFill>
              <a:srgbClr val="d9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57200" y="233172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Image 0" descr="icon_check.png"/>
          <p:cNvPicPr/>
          <p:nvPr/>
        </p:nvPicPr>
        <p:blipFill>
          <a:blip r:embed="rId1"/>
          <a:stretch/>
        </p:blipFill>
        <p:spPr>
          <a:xfrm>
            <a:off x="576000" y="245052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4" name="Text 5"/>
          <p:cNvSpPr/>
          <p:nvPr/>
        </p:nvSpPr>
        <p:spPr>
          <a:xfrm>
            <a:off x="1078920" y="22402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b2a4a"/>
                </a:solidFill>
                <a:latin typeface="Cambria"/>
                <a:ea typeface="Cambria"/>
              </a:rPr>
              <a:t>264,903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078920" y="26791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82"/>
                </a:solidFill>
                <a:latin typeface="Calibri"/>
                <a:ea typeface="Calibri"/>
              </a:rPr>
              <a:t>Observaciones</a:t>
            </a:r>
            <a:endParaRPr b="0" lang="es-A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3931920" y="2331720"/>
            <a:ext cx="502560" cy="50256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Image 1" descr="icon_layers.png"/>
          <p:cNvPicPr/>
          <p:nvPr/>
        </p:nvPicPr>
        <p:blipFill>
          <a:blip r:embed="rId2"/>
          <a:stretch/>
        </p:blipFill>
        <p:spPr>
          <a:xfrm>
            <a:off x="4050720" y="245052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8" name="Text 8"/>
          <p:cNvSpPr/>
          <p:nvPr/>
        </p:nvSpPr>
        <p:spPr>
          <a:xfrm>
            <a:off x="4553640" y="22402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b2a4a"/>
                </a:solidFill>
                <a:latin typeface="Cambria"/>
                <a:ea typeface="Cambria"/>
              </a:rPr>
              <a:t>22 Variables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53640" y="26791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82"/>
                </a:solidFill>
                <a:latin typeface="Calibri"/>
                <a:ea typeface="Calibri"/>
              </a:rPr>
              <a:t>10 cuantitativas, 12 categóricas</a:t>
            </a:r>
            <a:endParaRPr b="0" lang="es-A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457200" y="3246120"/>
            <a:ext cx="11247120" cy="360"/>
          </a:xfrm>
          <a:prstGeom prst="line">
            <a:avLst/>
          </a:prstGeom>
          <a:ln w="12700">
            <a:solidFill>
              <a:srgbClr val="d9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457200" y="345636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2" descr="icon_chart.png"/>
          <p:cNvPicPr/>
          <p:nvPr/>
        </p:nvPicPr>
        <p:blipFill>
          <a:blip r:embed="rId3"/>
          <a:stretch/>
        </p:blipFill>
        <p:spPr>
          <a:xfrm>
            <a:off x="548640" y="35478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3" name="Text 12"/>
          <p:cNvSpPr/>
          <p:nvPr/>
        </p:nvSpPr>
        <p:spPr>
          <a:xfrm>
            <a:off x="960120" y="343800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mbria"/>
                <a:ea typeface="Cambria"/>
              </a:rPr>
              <a:t>Variables Numéricas</a:t>
            </a:r>
            <a:endParaRPr b="0" lang="es-A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457200" y="3913560"/>
            <a:ext cx="5394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id, beat, district, ward, community_area, x_coordinate, y_coordinate, year, latitude, longitude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6172200" y="3456360"/>
            <a:ext cx="383760" cy="383760"/>
          </a:xfrm>
          <a:prstGeom prst="ellipse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Image 3" descr="icon_tag.png"/>
          <p:cNvPicPr/>
          <p:nvPr/>
        </p:nvPicPr>
        <p:blipFill>
          <a:blip r:embed="rId4"/>
          <a:stretch/>
        </p:blipFill>
        <p:spPr>
          <a:xfrm>
            <a:off x="6263640" y="354780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7" name="Text 15"/>
          <p:cNvSpPr/>
          <p:nvPr/>
        </p:nvSpPr>
        <p:spPr>
          <a:xfrm>
            <a:off x="6675120" y="343800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mbria"/>
                <a:ea typeface="Cambria"/>
              </a:rPr>
              <a:t>Variables Categóricas</a:t>
            </a:r>
            <a:endParaRPr b="0" lang="es-A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6172200" y="3913560"/>
            <a:ext cx="5531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primary_type, description, location_description, block, case_number, iucr, fbi_code, arrest, domestic, date, updated_on, location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457200" y="4892040"/>
            <a:ext cx="11247120" cy="360"/>
          </a:xfrm>
          <a:prstGeom prst="line">
            <a:avLst/>
          </a:prstGeom>
          <a:ln w="12700">
            <a:solidFill>
              <a:srgbClr val="d9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457200" y="5074920"/>
            <a:ext cx="383760" cy="383760"/>
          </a:xfrm>
          <a:prstGeom prst="ellipse">
            <a:avLst/>
          </a:prstGeom>
          <a:solidFill>
            <a:srgbClr val="e08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4" descr="icon_warning.png"/>
          <p:cNvPicPr/>
          <p:nvPr/>
        </p:nvPicPr>
        <p:blipFill>
          <a:blip r:embed="rId5"/>
          <a:stretch/>
        </p:blipFill>
        <p:spPr>
          <a:xfrm>
            <a:off x="548640" y="5166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2" name="Text 19"/>
          <p:cNvSpPr/>
          <p:nvPr/>
        </p:nvSpPr>
        <p:spPr>
          <a:xfrm>
            <a:off x="960120" y="505656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2a4a"/>
                </a:solidFill>
                <a:latin typeface="Cambria"/>
                <a:ea typeface="Cambria"/>
              </a:rPr>
              <a:t>Desafíos del Dataset</a:t>
            </a:r>
            <a:endParaRPr b="0" lang="es-A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685800" y="5532120"/>
            <a:ext cx="10972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2.64% de valores nulos en coordenadas geográficas (6,994 registros sin latitude/longitude)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0.23% de valores nulos en location_description (617 registros)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Alta cardinalidad en variables de texto libre (300+ valores distintos en </a:t>
            </a:r>
            <a:r>
              <a:rPr b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description</a:t>
            </a:r>
            <a:r>
              <a:rPr b="0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, esto es, muchos tipos de crimenes en esa columna)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a4a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Sin duplicados: los 264,903 id son únicos, buena integridad general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7200000" y="214560"/>
            <a:ext cx="4503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82"/>
                </a:solidFill>
                <a:latin typeface="Calibri"/>
                <a:ea typeface="Calibri"/>
              </a:rPr>
              <a:t>Integrantes Grupo 3:</a:t>
            </a:r>
            <a:endParaRPr b="0" lang="es-AR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82"/>
                </a:solidFill>
                <a:latin typeface="Calibri"/>
                <a:ea typeface="Calibri"/>
              </a:rPr>
              <a:t>A</a:t>
            </a:r>
            <a:endParaRPr b="0" lang="es-AR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82"/>
                </a:solidFill>
                <a:latin typeface="Calibri"/>
                <a:ea typeface="Calibri"/>
              </a:rPr>
              <a:t>B</a:t>
            </a:r>
            <a:endParaRPr b="0" lang="es-AR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82"/>
                </a:solidFill>
                <a:latin typeface="Calibri"/>
                <a:ea typeface="Calibri"/>
              </a:rPr>
              <a:t>C</a:t>
            </a:r>
            <a:endParaRPr b="0" lang="es-A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926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0392b"/>
                </a:solidFill>
                <a:latin typeface="Calibri"/>
                <a:ea typeface="Calibri"/>
              </a:rPr>
              <a:t>Chicago Data Portal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567000"/>
            <a:ext cx="11246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2a4a"/>
                </a:solidFill>
                <a:latin typeface="Cambria"/>
                <a:ea typeface="Cambria"/>
              </a:rPr>
              <a:t>Visualización del Dataset — Crimes 2015</a:t>
            </a:r>
            <a:endParaRPr b="0" lang="es-A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457200" y="1234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Top 10 tipos de crimen más frecuentes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" name="Chart 0"/>
          <p:cNvGraphicFramePr/>
          <p:nvPr/>
        </p:nvGraphicFramePr>
        <p:xfrm>
          <a:off x="411480" y="1508760"/>
          <a:ext cx="5577480" cy="233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Text 3"/>
          <p:cNvSpPr/>
          <p:nvPr/>
        </p:nvSpPr>
        <p:spPr>
          <a:xfrm>
            <a:off x="6263640" y="1234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Distribución de crímenes según la hora del día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0" name="Chart 1"/>
          <p:cNvGraphicFramePr/>
          <p:nvPr/>
        </p:nvGraphicFramePr>
        <p:xfrm>
          <a:off x="6217920" y="1508760"/>
          <a:ext cx="5531760" cy="233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Text 4"/>
          <p:cNvSpPr/>
          <p:nvPr/>
        </p:nvSpPr>
        <p:spPr>
          <a:xfrm>
            <a:off x="457200" y="3977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Distribución geográfica de los crímenes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geo.png"/>
          <p:cNvPicPr/>
          <p:nvPr/>
        </p:nvPicPr>
        <p:blipFill>
          <a:blip r:embed="rId3"/>
          <a:stretch/>
        </p:blipFill>
        <p:spPr>
          <a:xfrm>
            <a:off x="1005840" y="4251960"/>
            <a:ext cx="2514240" cy="2514240"/>
          </a:xfrm>
          <a:prstGeom prst="rect">
            <a:avLst/>
          </a:prstGeom>
          <a:ln w="0">
            <a:noFill/>
          </a:ln>
        </p:spPr>
      </p:pic>
      <p:sp>
        <p:nvSpPr>
          <p:cNvPr id="43" name="Text 5"/>
          <p:cNvSpPr/>
          <p:nvPr/>
        </p:nvSpPr>
        <p:spPr>
          <a:xfrm>
            <a:off x="6263640" y="3977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b2a4a"/>
                </a:solidFill>
                <a:latin typeface="Calibri"/>
                <a:ea typeface="Calibri"/>
              </a:rPr>
              <a:t>Distribución de arrestos</a:t>
            </a:r>
            <a:endParaRPr b="0" lang="es-A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4" name="Chart 2"/>
          <p:cNvGraphicFramePr/>
          <p:nvPr/>
        </p:nvGraphicFramePr>
        <p:xfrm>
          <a:off x="7223760" y="4251960"/>
          <a:ext cx="3657240" cy="251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2026-07-06T18:30:00Z</dcterms:created>
  <dc:creator>Claude</dc:creator>
  <dc:description/>
  <dc:language>es-AR</dc:language>
  <cp:lastModifiedBy/>
  <dcterms:modified xsi:type="dcterms:W3CDTF">2026-07-06T16:02:12Z</dcterms:modified>
  <cp:revision>2</cp:revision>
  <dc:subject>PptxGenJS Presentation</dc:subject>
  <dc:title>Dataset Chicago Crimes 2015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(16:9)</vt:lpwstr>
  </property>
  <property fmtid="{D5CDD505-2E9C-101B-9397-08002B2CF9AE}" pid="4" name="Slides">
    <vt:i4>2</vt:i4>
  </property>
</Properties>
</file>